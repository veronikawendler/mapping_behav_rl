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8" r:id="rId4"/>
    <p:sldId id="267" r:id="rId5"/>
    <p:sldId id="264" r:id="rId6"/>
    <p:sldId id="265" r:id="rId7"/>
    <p:sldId id="269" r:id="rId8"/>
    <p:sldId id="262" r:id="rId9"/>
    <p:sldId id="263" r:id="rId10"/>
    <p:sldId id="27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70" d="100"/>
          <a:sy n="70" d="100"/>
        </p:scale>
        <p:origin x="46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87840-F9F7-66C7-389C-9B0E7C9D1D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F473E0-EC24-9814-6D2B-1C002A355F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294DCA-F806-1C2F-5BBA-7CE7A78570C5}"/>
              </a:ext>
            </a:extLst>
          </p:cNvPr>
          <p:cNvSpPr>
            <a:spLocks noGrp="1"/>
          </p:cNvSpPr>
          <p:nvPr>
            <p:ph type="dt" sz="half" idx="10"/>
          </p:nvPr>
        </p:nvSpPr>
        <p:spPr/>
        <p:txBody>
          <a:bodyPr/>
          <a:lstStyle/>
          <a:p>
            <a:fld id="{83BD5395-1819-4FA8-A6F6-74E137A51F2B}" type="datetimeFigureOut">
              <a:rPr lang="en-US" smtClean="0"/>
              <a:t>1/30/2026</a:t>
            </a:fld>
            <a:endParaRPr lang="en-US"/>
          </a:p>
        </p:txBody>
      </p:sp>
      <p:sp>
        <p:nvSpPr>
          <p:cNvPr id="5" name="Footer Placeholder 4">
            <a:extLst>
              <a:ext uri="{FF2B5EF4-FFF2-40B4-BE49-F238E27FC236}">
                <a16:creationId xmlns:a16="http://schemas.microsoft.com/office/drawing/2014/main" id="{9E4E67BB-7B18-F919-47E2-35A3F661B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23ABE5-A8EE-0D50-D293-D9310886FA71}"/>
              </a:ext>
            </a:extLst>
          </p:cNvPr>
          <p:cNvSpPr>
            <a:spLocks noGrp="1"/>
          </p:cNvSpPr>
          <p:nvPr>
            <p:ph type="sldNum" sz="quarter" idx="12"/>
          </p:nvPr>
        </p:nvSpPr>
        <p:spPr/>
        <p:txBody>
          <a:bodyPr/>
          <a:lstStyle/>
          <a:p>
            <a:fld id="{365E013E-2235-4277-8395-7F73845BB180}" type="slidenum">
              <a:rPr lang="en-US" smtClean="0"/>
              <a:t>‹#›</a:t>
            </a:fld>
            <a:endParaRPr lang="en-US"/>
          </a:p>
        </p:txBody>
      </p:sp>
    </p:spTree>
    <p:extLst>
      <p:ext uri="{BB962C8B-B14F-4D97-AF65-F5344CB8AC3E}">
        <p14:creationId xmlns:p14="http://schemas.microsoft.com/office/powerpoint/2010/main" val="1657660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2B4DE-DBA2-C8DC-D861-989FACC4A4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AD0368-050B-AC19-0584-F538264CD3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DA6F34-DFF8-1BB9-EA68-F8B8EA44EAB3}"/>
              </a:ext>
            </a:extLst>
          </p:cNvPr>
          <p:cNvSpPr>
            <a:spLocks noGrp="1"/>
          </p:cNvSpPr>
          <p:nvPr>
            <p:ph type="dt" sz="half" idx="10"/>
          </p:nvPr>
        </p:nvSpPr>
        <p:spPr/>
        <p:txBody>
          <a:bodyPr/>
          <a:lstStyle/>
          <a:p>
            <a:fld id="{83BD5395-1819-4FA8-A6F6-74E137A51F2B}" type="datetimeFigureOut">
              <a:rPr lang="en-US" smtClean="0"/>
              <a:t>1/30/2026</a:t>
            </a:fld>
            <a:endParaRPr lang="en-US"/>
          </a:p>
        </p:txBody>
      </p:sp>
      <p:sp>
        <p:nvSpPr>
          <p:cNvPr id="5" name="Footer Placeholder 4">
            <a:extLst>
              <a:ext uri="{FF2B5EF4-FFF2-40B4-BE49-F238E27FC236}">
                <a16:creationId xmlns:a16="http://schemas.microsoft.com/office/drawing/2014/main" id="{DFF27442-CC51-1D24-5DF3-12B870884F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1E8CAE-A22E-EB5A-6F2D-0899BEC0A437}"/>
              </a:ext>
            </a:extLst>
          </p:cNvPr>
          <p:cNvSpPr>
            <a:spLocks noGrp="1"/>
          </p:cNvSpPr>
          <p:nvPr>
            <p:ph type="sldNum" sz="quarter" idx="12"/>
          </p:nvPr>
        </p:nvSpPr>
        <p:spPr/>
        <p:txBody>
          <a:bodyPr/>
          <a:lstStyle/>
          <a:p>
            <a:fld id="{365E013E-2235-4277-8395-7F73845BB180}" type="slidenum">
              <a:rPr lang="en-US" smtClean="0"/>
              <a:t>‹#›</a:t>
            </a:fld>
            <a:endParaRPr lang="en-US"/>
          </a:p>
        </p:txBody>
      </p:sp>
    </p:spTree>
    <p:extLst>
      <p:ext uri="{BB962C8B-B14F-4D97-AF65-F5344CB8AC3E}">
        <p14:creationId xmlns:p14="http://schemas.microsoft.com/office/powerpoint/2010/main" val="1969512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1A076-2776-976C-9CEA-D289496677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425F9E-5C53-8CD3-82F0-1B0A40D01A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DE641F-CC05-3434-05F2-D0E8940581D8}"/>
              </a:ext>
            </a:extLst>
          </p:cNvPr>
          <p:cNvSpPr>
            <a:spLocks noGrp="1"/>
          </p:cNvSpPr>
          <p:nvPr>
            <p:ph type="dt" sz="half" idx="10"/>
          </p:nvPr>
        </p:nvSpPr>
        <p:spPr/>
        <p:txBody>
          <a:bodyPr/>
          <a:lstStyle/>
          <a:p>
            <a:fld id="{83BD5395-1819-4FA8-A6F6-74E137A51F2B}" type="datetimeFigureOut">
              <a:rPr lang="en-US" smtClean="0"/>
              <a:t>1/30/2026</a:t>
            </a:fld>
            <a:endParaRPr lang="en-US"/>
          </a:p>
        </p:txBody>
      </p:sp>
      <p:sp>
        <p:nvSpPr>
          <p:cNvPr id="5" name="Footer Placeholder 4">
            <a:extLst>
              <a:ext uri="{FF2B5EF4-FFF2-40B4-BE49-F238E27FC236}">
                <a16:creationId xmlns:a16="http://schemas.microsoft.com/office/drawing/2014/main" id="{B46ED2F5-8787-05EA-017E-5FF7628B10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1D44F9-A34A-3128-F7EC-E4077357927E}"/>
              </a:ext>
            </a:extLst>
          </p:cNvPr>
          <p:cNvSpPr>
            <a:spLocks noGrp="1"/>
          </p:cNvSpPr>
          <p:nvPr>
            <p:ph type="sldNum" sz="quarter" idx="12"/>
          </p:nvPr>
        </p:nvSpPr>
        <p:spPr/>
        <p:txBody>
          <a:bodyPr/>
          <a:lstStyle/>
          <a:p>
            <a:fld id="{365E013E-2235-4277-8395-7F73845BB180}" type="slidenum">
              <a:rPr lang="en-US" smtClean="0"/>
              <a:t>‹#›</a:t>
            </a:fld>
            <a:endParaRPr lang="en-US"/>
          </a:p>
        </p:txBody>
      </p:sp>
    </p:spTree>
    <p:extLst>
      <p:ext uri="{BB962C8B-B14F-4D97-AF65-F5344CB8AC3E}">
        <p14:creationId xmlns:p14="http://schemas.microsoft.com/office/powerpoint/2010/main" val="3450295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AEF08-9EC0-F5DF-068F-865EE6BBDB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277FF5-76A7-B5CF-8B4D-EE7199FB0A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93C2DD-4A2B-73C8-8558-1970CECF18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85EFF6-AC4A-841E-A4D0-82A67DCF3C3F}"/>
              </a:ext>
            </a:extLst>
          </p:cNvPr>
          <p:cNvSpPr>
            <a:spLocks noGrp="1"/>
          </p:cNvSpPr>
          <p:nvPr>
            <p:ph type="dt" sz="half" idx="10"/>
          </p:nvPr>
        </p:nvSpPr>
        <p:spPr/>
        <p:txBody>
          <a:bodyPr/>
          <a:lstStyle/>
          <a:p>
            <a:fld id="{83BD5395-1819-4FA8-A6F6-74E137A51F2B}" type="datetimeFigureOut">
              <a:rPr lang="en-US" smtClean="0"/>
              <a:t>1/30/2026</a:t>
            </a:fld>
            <a:endParaRPr lang="en-US"/>
          </a:p>
        </p:txBody>
      </p:sp>
      <p:sp>
        <p:nvSpPr>
          <p:cNvPr id="6" name="Footer Placeholder 5">
            <a:extLst>
              <a:ext uri="{FF2B5EF4-FFF2-40B4-BE49-F238E27FC236}">
                <a16:creationId xmlns:a16="http://schemas.microsoft.com/office/drawing/2014/main" id="{87024018-5672-132C-A09F-32AFE11AE5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443AFF-F53F-772D-E9E3-B245BB4F8ECF}"/>
              </a:ext>
            </a:extLst>
          </p:cNvPr>
          <p:cNvSpPr>
            <a:spLocks noGrp="1"/>
          </p:cNvSpPr>
          <p:nvPr>
            <p:ph type="sldNum" sz="quarter" idx="12"/>
          </p:nvPr>
        </p:nvSpPr>
        <p:spPr/>
        <p:txBody>
          <a:bodyPr/>
          <a:lstStyle/>
          <a:p>
            <a:fld id="{365E013E-2235-4277-8395-7F73845BB180}" type="slidenum">
              <a:rPr lang="en-US" smtClean="0"/>
              <a:t>‹#›</a:t>
            </a:fld>
            <a:endParaRPr lang="en-US"/>
          </a:p>
        </p:txBody>
      </p:sp>
    </p:spTree>
    <p:extLst>
      <p:ext uri="{BB962C8B-B14F-4D97-AF65-F5344CB8AC3E}">
        <p14:creationId xmlns:p14="http://schemas.microsoft.com/office/powerpoint/2010/main" val="791939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585F9-740D-C39D-758B-B0177B8145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73F0C70-ED0C-A4C7-C218-55C520563B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D898D0-153F-B5E6-17E1-D3F68533FD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F955BC-78A0-725C-2218-B372DF2B27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9D4769-7E0A-B212-FE77-5FDDA04628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5E9D74-7AAF-F8AE-EDE8-F46339E294F3}"/>
              </a:ext>
            </a:extLst>
          </p:cNvPr>
          <p:cNvSpPr>
            <a:spLocks noGrp="1"/>
          </p:cNvSpPr>
          <p:nvPr>
            <p:ph type="dt" sz="half" idx="10"/>
          </p:nvPr>
        </p:nvSpPr>
        <p:spPr/>
        <p:txBody>
          <a:bodyPr/>
          <a:lstStyle/>
          <a:p>
            <a:fld id="{83BD5395-1819-4FA8-A6F6-74E137A51F2B}" type="datetimeFigureOut">
              <a:rPr lang="en-US" smtClean="0"/>
              <a:t>1/30/2026</a:t>
            </a:fld>
            <a:endParaRPr lang="en-US"/>
          </a:p>
        </p:txBody>
      </p:sp>
      <p:sp>
        <p:nvSpPr>
          <p:cNvPr id="8" name="Footer Placeholder 7">
            <a:extLst>
              <a:ext uri="{FF2B5EF4-FFF2-40B4-BE49-F238E27FC236}">
                <a16:creationId xmlns:a16="http://schemas.microsoft.com/office/drawing/2014/main" id="{17AFE718-2011-A9EC-AA56-27B437D60F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010C96-82BE-390A-5DB2-26512723E6B5}"/>
              </a:ext>
            </a:extLst>
          </p:cNvPr>
          <p:cNvSpPr>
            <a:spLocks noGrp="1"/>
          </p:cNvSpPr>
          <p:nvPr>
            <p:ph type="sldNum" sz="quarter" idx="12"/>
          </p:nvPr>
        </p:nvSpPr>
        <p:spPr/>
        <p:txBody>
          <a:bodyPr/>
          <a:lstStyle/>
          <a:p>
            <a:fld id="{365E013E-2235-4277-8395-7F73845BB180}" type="slidenum">
              <a:rPr lang="en-US" smtClean="0"/>
              <a:t>‹#›</a:t>
            </a:fld>
            <a:endParaRPr lang="en-US"/>
          </a:p>
        </p:txBody>
      </p:sp>
    </p:spTree>
    <p:extLst>
      <p:ext uri="{BB962C8B-B14F-4D97-AF65-F5344CB8AC3E}">
        <p14:creationId xmlns:p14="http://schemas.microsoft.com/office/powerpoint/2010/main" val="3615896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320F4-75CC-FFA9-D6FB-00C709ACD4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A7E0D7-05B0-4304-8F8A-3372E52900C4}"/>
              </a:ext>
            </a:extLst>
          </p:cNvPr>
          <p:cNvSpPr>
            <a:spLocks noGrp="1"/>
          </p:cNvSpPr>
          <p:nvPr>
            <p:ph type="dt" sz="half" idx="10"/>
          </p:nvPr>
        </p:nvSpPr>
        <p:spPr/>
        <p:txBody>
          <a:bodyPr/>
          <a:lstStyle/>
          <a:p>
            <a:fld id="{83BD5395-1819-4FA8-A6F6-74E137A51F2B}" type="datetimeFigureOut">
              <a:rPr lang="en-US" smtClean="0"/>
              <a:t>1/30/2026</a:t>
            </a:fld>
            <a:endParaRPr lang="en-US"/>
          </a:p>
        </p:txBody>
      </p:sp>
      <p:sp>
        <p:nvSpPr>
          <p:cNvPr id="4" name="Footer Placeholder 3">
            <a:extLst>
              <a:ext uri="{FF2B5EF4-FFF2-40B4-BE49-F238E27FC236}">
                <a16:creationId xmlns:a16="http://schemas.microsoft.com/office/drawing/2014/main" id="{80340119-E529-24B8-9C46-D5F3A2171B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8AA10C-9532-5A30-6EA2-8B96D294940E}"/>
              </a:ext>
            </a:extLst>
          </p:cNvPr>
          <p:cNvSpPr>
            <a:spLocks noGrp="1"/>
          </p:cNvSpPr>
          <p:nvPr>
            <p:ph type="sldNum" sz="quarter" idx="12"/>
          </p:nvPr>
        </p:nvSpPr>
        <p:spPr/>
        <p:txBody>
          <a:bodyPr/>
          <a:lstStyle/>
          <a:p>
            <a:fld id="{365E013E-2235-4277-8395-7F73845BB180}" type="slidenum">
              <a:rPr lang="en-US" smtClean="0"/>
              <a:t>‹#›</a:t>
            </a:fld>
            <a:endParaRPr lang="en-US"/>
          </a:p>
        </p:txBody>
      </p:sp>
    </p:spTree>
    <p:extLst>
      <p:ext uri="{BB962C8B-B14F-4D97-AF65-F5344CB8AC3E}">
        <p14:creationId xmlns:p14="http://schemas.microsoft.com/office/powerpoint/2010/main" val="2338267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A7F4A2-2C45-C0EB-86CC-3A84EE6E5B33}"/>
              </a:ext>
            </a:extLst>
          </p:cNvPr>
          <p:cNvSpPr>
            <a:spLocks noGrp="1"/>
          </p:cNvSpPr>
          <p:nvPr>
            <p:ph type="dt" sz="half" idx="10"/>
          </p:nvPr>
        </p:nvSpPr>
        <p:spPr/>
        <p:txBody>
          <a:bodyPr/>
          <a:lstStyle/>
          <a:p>
            <a:fld id="{83BD5395-1819-4FA8-A6F6-74E137A51F2B}" type="datetimeFigureOut">
              <a:rPr lang="en-US" smtClean="0"/>
              <a:t>1/30/2026</a:t>
            </a:fld>
            <a:endParaRPr lang="en-US"/>
          </a:p>
        </p:txBody>
      </p:sp>
      <p:sp>
        <p:nvSpPr>
          <p:cNvPr id="3" name="Footer Placeholder 2">
            <a:extLst>
              <a:ext uri="{FF2B5EF4-FFF2-40B4-BE49-F238E27FC236}">
                <a16:creationId xmlns:a16="http://schemas.microsoft.com/office/drawing/2014/main" id="{C062BDB9-AA75-A6A2-DA82-F7F3DBA110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8B4489-126F-7571-7D4C-6AC33C341028}"/>
              </a:ext>
            </a:extLst>
          </p:cNvPr>
          <p:cNvSpPr>
            <a:spLocks noGrp="1"/>
          </p:cNvSpPr>
          <p:nvPr>
            <p:ph type="sldNum" sz="quarter" idx="12"/>
          </p:nvPr>
        </p:nvSpPr>
        <p:spPr/>
        <p:txBody>
          <a:bodyPr/>
          <a:lstStyle/>
          <a:p>
            <a:fld id="{365E013E-2235-4277-8395-7F73845BB180}" type="slidenum">
              <a:rPr lang="en-US" smtClean="0"/>
              <a:t>‹#›</a:t>
            </a:fld>
            <a:endParaRPr lang="en-US"/>
          </a:p>
        </p:txBody>
      </p:sp>
    </p:spTree>
    <p:extLst>
      <p:ext uri="{BB962C8B-B14F-4D97-AF65-F5344CB8AC3E}">
        <p14:creationId xmlns:p14="http://schemas.microsoft.com/office/powerpoint/2010/main" val="3040743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5CCFC-09AC-048F-1799-BE5D596E32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AFEA74-E156-292F-4979-5C872C8227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2AC82E-ECEB-2382-B022-C3E5D03FC1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E98CB8-5287-1A6D-89E5-A69277F6B486}"/>
              </a:ext>
            </a:extLst>
          </p:cNvPr>
          <p:cNvSpPr>
            <a:spLocks noGrp="1"/>
          </p:cNvSpPr>
          <p:nvPr>
            <p:ph type="dt" sz="half" idx="10"/>
          </p:nvPr>
        </p:nvSpPr>
        <p:spPr/>
        <p:txBody>
          <a:bodyPr/>
          <a:lstStyle/>
          <a:p>
            <a:fld id="{83BD5395-1819-4FA8-A6F6-74E137A51F2B}" type="datetimeFigureOut">
              <a:rPr lang="en-US" smtClean="0"/>
              <a:t>1/30/2026</a:t>
            </a:fld>
            <a:endParaRPr lang="en-US"/>
          </a:p>
        </p:txBody>
      </p:sp>
      <p:sp>
        <p:nvSpPr>
          <p:cNvPr id="6" name="Footer Placeholder 5">
            <a:extLst>
              <a:ext uri="{FF2B5EF4-FFF2-40B4-BE49-F238E27FC236}">
                <a16:creationId xmlns:a16="http://schemas.microsoft.com/office/drawing/2014/main" id="{2D48C1C7-3348-D561-83BE-7114271F27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B95E4D-3AF0-6F90-7339-222A5EFD0B71}"/>
              </a:ext>
            </a:extLst>
          </p:cNvPr>
          <p:cNvSpPr>
            <a:spLocks noGrp="1"/>
          </p:cNvSpPr>
          <p:nvPr>
            <p:ph type="sldNum" sz="quarter" idx="12"/>
          </p:nvPr>
        </p:nvSpPr>
        <p:spPr/>
        <p:txBody>
          <a:bodyPr/>
          <a:lstStyle/>
          <a:p>
            <a:fld id="{365E013E-2235-4277-8395-7F73845BB180}" type="slidenum">
              <a:rPr lang="en-US" smtClean="0"/>
              <a:t>‹#›</a:t>
            </a:fld>
            <a:endParaRPr lang="en-US"/>
          </a:p>
        </p:txBody>
      </p:sp>
    </p:spTree>
    <p:extLst>
      <p:ext uri="{BB962C8B-B14F-4D97-AF65-F5344CB8AC3E}">
        <p14:creationId xmlns:p14="http://schemas.microsoft.com/office/powerpoint/2010/main" val="2929038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F5299-D617-C77B-6A62-6C32689596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892393-C2B2-0708-54F7-620D52DBC2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0331486-86CB-11FC-A407-B9DE04E110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C5BFAA-756F-AB76-7F52-E4473B911D81}"/>
              </a:ext>
            </a:extLst>
          </p:cNvPr>
          <p:cNvSpPr>
            <a:spLocks noGrp="1"/>
          </p:cNvSpPr>
          <p:nvPr>
            <p:ph type="dt" sz="half" idx="10"/>
          </p:nvPr>
        </p:nvSpPr>
        <p:spPr/>
        <p:txBody>
          <a:bodyPr/>
          <a:lstStyle/>
          <a:p>
            <a:fld id="{83BD5395-1819-4FA8-A6F6-74E137A51F2B}" type="datetimeFigureOut">
              <a:rPr lang="en-US" smtClean="0"/>
              <a:t>1/30/2026</a:t>
            </a:fld>
            <a:endParaRPr lang="en-US"/>
          </a:p>
        </p:txBody>
      </p:sp>
      <p:sp>
        <p:nvSpPr>
          <p:cNvPr id="6" name="Footer Placeholder 5">
            <a:extLst>
              <a:ext uri="{FF2B5EF4-FFF2-40B4-BE49-F238E27FC236}">
                <a16:creationId xmlns:a16="http://schemas.microsoft.com/office/drawing/2014/main" id="{7DB2B159-BC1E-3F33-0E71-E677B28362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E8EFA2-141A-7BC0-B755-3D26416D2D44}"/>
              </a:ext>
            </a:extLst>
          </p:cNvPr>
          <p:cNvSpPr>
            <a:spLocks noGrp="1"/>
          </p:cNvSpPr>
          <p:nvPr>
            <p:ph type="sldNum" sz="quarter" idx="12"/>
          </p:nvPr>
        </p:nvSpPr>
        <p:spPr/>
        <p:txBody>
          <a:bodyPr/>
          <a:lstStyle/>
          <a:p>
            <a:fld id="{365E013E-2235-4277-8395-7F73845BB180}" type="slidenum">
              <a:rPr lang="en-US" smtClean="0"/>
              <a:t>‹#›</a:t>
            </a:fld>
            <a:endParaRPr lang="en-US"/>
          </a:p>
        </p:txBody>
      </p:sp>
    </p:spTree>
    <p:extLst>
      <p:ext uri="{BB962C8B-B14F-4D97-AF65-F5344CB8AC3E}">
        <p14:creationId xmlns:p14="http://schemas.microsoft.com/office/powerpoint/2010/main" val="4052362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80E2C-5BAD-1E13-95F3-4BDF554E15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F84F1E-3D99-94D7-F35F-714A1265A6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772AC6-7B20-6C08-4E7E-7E97A6D73E18}"/>
              </a:ext>
            </a:extLst>
          </p:cNvPr>
          <p:cNvSpPr>
            <a:spLocks noGrp="1"/>
          </p:cNvSpPr>
          <p:nvPr>
            <p:ph type="dt" sz="half" idx="10"/>
          </p:nvPr>
        </p:nvSpPr>
        <p:spPr/>
        <p:txBody>
          <a:bodyPr/>
          <a:lstStyle/>
          <a:p>
            <a:fld id="{83BD5395-1819-4FA8-A6F6-74E137A51F2B}" type="datetimeFigureOut">
              <a:rPr lang="en-US" smtClean="0"/>
              <a:t>1/30/2026</a:t>
            </a:fld>
            <a:endParaRPr lang="en-US"/>
          </a:p>
        </p:txBody>
      </p:sp>
      <p:sp>
        <p:nvSpPr>
          <p:cNvPr id="5" name="Footer Placeholder 4">
            <a:extLst>
              <a:ext uri="{FF2B5EF4-FFF2-40B4-BE49-F238E27FC236}">
                <a16:creationId xmlns:a16="http://schemas.microsoft.com/office/drawing/2014/main" id="{6B9125F3-174C-1AA5-93C5-9D792A53DC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5B6B44-5207-C3CF-7ECF-5B4A71B2CC02}"/>
              </a:ext>
            </a:extLst>
          </p:cNvPr>
          <p:cNvSpPr>
            <a:spLocks noGrp="1"/>
          </p:cNvSpPr>
          <p:nvPr>
            <p:ph type="sldNum" sz="quarter" idx="12"/>
          </p:nvPr>
        </p:nvSpPr>
        <p:spPr/>
        <p:txBody>
          <a:bodyPr/>
          <a:lstStyle/>
          <a:p>
            <a:fld id="{365E013E-2235-4277-8395-7F73845BB180}" type="slidenum">
              <a:rPr lang="en-US" smtClean="0"/>
              <a:t>‹#›</a:t>
            </a:fld>
            <a:endParaRPr lang="en-US"/>
          </a:p>
        </p:txBody>
      </p:sp>
    </p:spTree>
    <p:extLst>
      <p:ext uri="{BB962C8B-B14F-4D97-AF65-F5344CB8AC3E}">
        <p14:creationId xmlns:p14="http://schemas.microsoft.com/office/powerpoint/2010/main" val="1387544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0D3E21-050D-C427-D6DB-402110781C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99D2B3-0803-688D-8D92-827DA4EF56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0F1015-B07D-B72B-BCB6-E7BD2DF45D97}"/>
              </a:ext>
            </a:extLst>
          </p:cNvPr>
          <p:cNvSpPr>
            <a:spLocks noGrp="1"/>
          </p:cNvSpPr>
          <p:nvPr>
            <p:ph type="dt" sz="half" idx="10"/>
          </p:nvPr>
        </p:nvSpPr>
        <p:spPr/>
        <p:txBody>
          <a:bodyPr/>
          <a:lstStyle/>
          <a:p>
            <a:fld id="{83BD5395-1819-4FA8-A6F6-74E137A51F2B}" type="datetimeFigureOut">
              <a:rPr lang="en-US" smtClean="0"/>
              <a:t>1/30/2026</a:t>
            </a:fld>
            <a:endParaRPr lang="en-US"/>
          </a:p>
        </p:txBody>
      </p:sp>
      <p:sp>
        <p:nvSpPr>
          <p:cNvPr id="5" name="Footer Placeholder 4">
            <a:extLst>
              <a:ext uri="{FF2B5EF4-FFF2-40B4-BE49-F238E27FC236}">
                <a16:creationId xmlns:a16="http://schemas.microsoft.com/office/drawing/2014/main" id="{07A72062-B65F-04B9-3694-629024F382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EC83DD-997F-E03A-CDD7-169D3B736473}"/>
              </a:ext>
            </a:extLst>
          </p:cNvPr>
          <p:cNvSpPr>
            <a:spLocks noGrp="1"/>
          </p:cNvSpPr>
          <p:nvPr>
            <p:ph type="sldNum" sz="quarter" idx="12"/>
          </p:nvPr>
        </p:nvSpPr>
        <p:spPr/>
        <p:txBody>
          <a:bodyPr/>
          <a:lstStyle/>
          <a:p>
            <a:fld id="{365E013E-2235-4277-8395-7F73845BB180}" type="slidenum">
              <a:rPr lang="en-US" smtClean="0"/>
              <a:t>‹#›</a:t>
            </a:fld>
            <a:endParaRPr lang="en-US"/>
          </a:p>
        </p:txBody>
      </p:sp>
    </p:spTree>
    <p:extLst>
      <p:ext uri="{BB962C8B-B14F-4D97-AF65-F5344CB8AC3E}">
        <p14:creationId xmlns:p14="http://schemas.microsoft.com/office/powerpoint/2010/main" val="3925989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777736-A832-1598-50B0-E94B64210A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5D2321-3BA3-D4C7-A1FD-F7AFA396B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1BD3B8-1A61-AF86-3EDF-E96B9EC2D7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BD5395-1819-4FA8-A6F6-74E137A51F2B}" type="datetimeFigureOut">
              <a:rPr lang="en-US" smtClean="0"/>
              <a:t>1/30/2026</a:t>
            </a:fld>
            <a:endParaRPr lang="en-US"/>
          </a:p>
        </p:txBody>
      </p:sp>
      <p:sp>
        <p:nvSpPr>
          <p:cNvPr id="5" name="Footer Placeholder 4">
            <a:extLst>
              <a:ext uri="{FF2B5EF4-FFF2-40B4-BE49-F238E27FC236}">
                <a16:creationId xmlns:a16="http://schemas.microsoft.com/office/drawing/2014/main" id="{80EEB109-F74A-0E89-9BF7-819017DB79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ECF377-688A-40FF-77E6-AD9226C2CD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5E013E-2235-4277-8395-7F73845BB180}" type="slidenum">
              <a:rPr lang="en-US" smtClean="0"/>
              <a:t>‹#›</a:t>
            </a:fld>
            <a:endParaRPr lang="en-US"/>
          </a:p>
        </p:txBody>
      </p:sp>
    </p:spTree>
    <p:extLst>
      <p:ext uri="{BB962C8B-B14F-4D97-AF65-F5344CB8AC3E}">
        <p14:creationId xmlns:p14="http://schemas.microsoft.com/office/powerpoint/2010/main" val="27024587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You can see a network that has a similar shape to a jellyfish.">
            <a:extLst>
              <a:ext uri="{FF2B5EF4-FFF2-40B4-BE49-F238E27FC236}">
                <a16:creationId xmlns:a16="http://schemas.microsoft.com/office/drawing/2014/main" id="{08B070E7-2870-BD8E-C4CE-93A78D9965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0"/>
            <a:ext cx="10972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35B56F4-A422-667E-7E5B-53CF84CEB04A}"/>
              </a:ext>
            </a:extLst>
          </p:cNvPr>
          <p:cNvSpPr>
            <a:spLocks noGrp="1"/>
          </p:cNvSpPr>
          <p:nvPr>
            <p:ph type="ctrTitle"/>
          </p:nvPr>
        </p:nvSpPr>
        <p:spPr>
          <a:xfrm>
            <a:off x="1524000" y="717296"/>
            <a:ext cx="9144000" cy="2387600"/>
          </a:xfrm>
        </p:spPr>
        <p:txBody>
          <a:bodyPr/>
          <a:lstStyle/>
          <a:p>
            <a:r>
              <a:rPr lang="en-US" dirty="0"/>
              <a:t>Agent-based Modeling in the Social Sciences</a:t>
            </a:r>
          </a:p>
        </p:txBody>
      </p:sp>
      <p:sp>
        <p:nvSpPr>
          <p:cNvPr id="3" name="Subtitle 2">
            <a:extLst>
              <a:ext uri="{FF2B5EF4-FFF2-40B4-BE49-F238E27FC236}">
                <a16:creationId xmlns:a16="http://schemas.microsoft.com/office/drawing/2014/main" id="{658471E9-73D1-2AF9-BF66-02032669407E}"/>
              </a:ext>
            </a:extLst>
          </p:cNvPr>
          <p:cNvSpPr>
            <a:spLocks noGrp="1"/>
          </p:cNvSpPr>
          <p:nvPr>
            <p:ph type="subTitle" idx="1"/>
          </p:nvPr>
        </p:nvSpPr>
        <p:spPr>
          <a:xfrm>
            <a:off x="1661160" y="5870448"/>
            <a:ext cx="9144000" cy="841248"/>
          </a:xfrm>
        </p:spPr>
        <p:txBody>
          <a:bodyPr>
            <a:normAutofit lnSpcReduction="10000"/>
          </a:bodyPr>
          <a:lstStyle/>
          <a:p>
            <a:r>
              <a:rPr lang="en-US" dirty="0"/>
              <a:t>29.01.2026</a:t>
            </a:r>
          </a:p>
          <a:p>
            <a:r>
              <a:rPr lang="en-US" dirty="0"/>
              <a:t>Veronika Wendler</a:t>
            </a:r>
          </a:p>
        </p:txBody>
      </p:sp>
    </p:spTree>
    <p:extLst>
      <p:ext uri="{BB962C8B-B14F-4D97-AF65-F5344CB8AC3E}">
        <p14:creationId xmlns:p14="http://schemas.microsoft.com/office/powerpoint/2010/main" val="306178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F17F2-411B-EE78-FFD2-78E7BF1B326B}"/>
              </a:ext>
            </a:extLst>
          </p:cNvPr>
          <p:cNvSpPr>
            <a:spLocks noGrp="1"/>
          </p:cNvSpPr>
          <p:nvPr>
            <p:ph type="title"/>
          </p:nvPr>
        </p:nvSpPr>
        <p:spPr>
          <a:xfrm>
            <a:off x="701040" y="306133"/>
            <a:ext cx="10515600" cy="1325563"/>
          </a:xfrm>
        </p:spPr>
        <p:txBody>
          <a:bodyPr/>
          <a:lstStyle/>
          <a:p>
            <a:r>
              <a:rPr lang="en-US" dirty="0"/>
              <a:t>Mapping the Field of Agent-based Models (ABM) in the Social Sciences </a:t>
            </a:r>
          </a:p>
        </p:txBody>
      </p:sp>
      <p:sp>
        <p:nvSpPr>
          <p:cNvPr id="3" name="Content Placeholder 2">
            <a:extLst>
              <a:ext uri="{FF2B5EF4-FFF2-40B4-BE49-F238E27FC236}">
                <a16:creationId xmlns:a16="http://schemas.microsoft.com/office/drawing/2014/main" id="{6CC13588-E6D6-5663-F340-56068192698B}"/>
              </a:ext>
            </a:extLst>
          </p:cNvPr>
          <p:cNvSpPr>
            <a:spLocks noGrp="1"/>
          </p:cNvSpPr>
          <p:nvPr>
            <p:ph idx="1"/>
          </p:nvPr>
        </p:nvSpPr>
        <p:spPr>
          <a:xfrm>
            <a:off x="838200" y="1942496"/>
            <a:ext cx="10515600" cy="4695635"/>
          </a:xfrm>
        </p:spPr>
        <p:txBody>
          <a:bodyPr>
            <a:normAutofit fontScale="92500" lnSpcReduction="10000"/>
          </a:bodyPr>
          <a:lstStyle/>
          <a:p>
            <a:pPr>
              <a:lnSpc>
                <a:spcPct val="100000"/>
              </a:lnSpc>
            </a:pPr>
            <a:r>
              <a:rPr lang="en-GB" sz="2400" dirty="0"/>
              <a:t>we want to use a large language model–powered bibliometric approach to map the field of agent-based modelling in the social sciences</a:t>
            </a:r>
          </a:p>
          <a:p>
            <a:pPr>
              <a:lnSpc>
                <a:spcPct val="100000"/>
              </a:lnSpc>
            </a:pPr>
            <a:r>
              <a:rPr lang="en-GB" sz="2400" dirty="0"/>
              <a:t>That is, we gathered many thousands of papers on agent-based modelling in the social sciences and are now interested in understanding the connections between these papers and what the field looks like</a:t>
            </a:r>
          </a:p>
          <a:p>
            <a:pPr>
              <a:lnSpc>
                <a:spcPct val="100000"/>
              </a:lnSpc>
            </a:pPr>
            <a:r>
              <a:rPr lang="en-GB" sz="2400" dirty="0"/>
              <a:t>Agent-based modelling (ABM) is a computational method that simulates the behaviour and interactions of many autonomous agents (e.g., individuals, animals, firms)</a:t>
            </a:r>
          </a:p>
          <a:p>
            <a:pPr>
              <a:lnSpc>
                <a:spcPct val="100000"/>
              </a:lnSpc>
            </a:pPr>
            <a:r>
              <a:rPr lang="en-GB" sz="2400" dirty="0"/>
              <a:t>Each agent follows relatively simple rules</a:t>
            </a:r>
          </a:p>
          <a:p>
            <a:pPr>
              <a:lnSpc>
                <a:spcPct val="100000"/>
              </a:lnSpc>
            </a:pPr>
            <a:r>
              <a:rPr lang="en-GB" sz="2400" dirty="0"/>
              <a:t>System-level patterns emerge over time from agent interactions, rather than being explicitly imposed by the modeler</a:t>
            </a:r>
          </a:p>
          <a:p>
            <a:pPr marL="0" indent="0">
              <a:lnSpc>
                <a:spcPct val="100000"/>
              </a:lnSpc>
              <a:buNone/>
            </a:pPr>
            <a:r>
              <a:rPr lang="en-GB" sz="2400" b="1" dirty="0">
                <a:sym typeface="Wingdings" panose="05000000000000000000" pitchFamily="2" charset="2"/>
              </a:rPr>
              <a:t> We are interested in papers combining agent-based modelling and human decision making</a:t>
            </a:r>
            <a:endParaRPr lang="en-GB" sz="2400" b="1" dirty="0"/>
          </a:p>
          <a:p>
            <a:endParaRPr lang="en-GB" dirty="0"/>
          </a:p>
        </p:txBody>
      </p:sp>
    </p:spTree>
    <p:extLst>
      <p:ext uri="{BB962C8B-B14F-4D97-AF65-F5344CB8AC3E}">
        <p14:creationId xmlns:p14="http://schemas.microsoft.com/office/powerpoint/2010/main" val="2186060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3E2B1-E8A9-858A-0D5B-3B9BDAAA1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51A4D-BEB6-D019-76AD-3F2963CB8958}"/>
              </a:ext>
            </a:extLst>
          </p:cNvPr>
          <p:cNvSpPr>
            <a:spLocks noGrp="1"/>
          </p:cNvSpPr>
          <p:nvPr>
            <p:ph type="title"/>
          </p:nvPr>
        </p:nvSpPr>
        <p:spPr>
          <a:xfrm>
            <a:off x="755904" y="155765"/>
            <a:ext cx="10515600" cy="1325563"/>
          </a:xfrm>
        </p:spPr>
        <p:txBody>
          <a:bodyPr/>
          <a:lstStyle/>
          <a:p>
            <a:r>
              <a:rPr lang="en-US" dirty="0"/>
              <a:t>ABM- Example</a:t>
            </a:r>
          </a:p>
        </p:txBody>
      </p:sp>
      <p:sp>
        <p:nvSpPr>
          <p:cNvPr id="3" name="Content Placeholder 2">
            <a:extLst>
              <a:ext uri="{FF2B5EF4-FFF2-40B4-BE49-F238E27FC236}">
                <a16:creationId xmlns:a16="http://schemas.microsoft.com/office/drawing/2014/main" id="{F8BEB9D5-6270-C8AD-94B7-20AC77626D57}"/>
              </a:ext>
            </a:extLst>
          </p:cNvPr>
          <p:cNvSpPr>
            <a:spLocks noGrp="1"/>
          </p:cNvSpPr>
          <p:nvPr>
            <p:ph idx="1"/>
          </p:nvPr>
        </p:nvSpPr>
        <p:spPr>
          <a:xfrm>
            <a:off x="838200" y="1353630"/>
            <a:ext cx="10930128" cy="5211762"/>
          </a:xfrm>
        </p:spPr>
        <p:txBody>
          <a:bodyPr>
            <a:normAutofit fontScale="77500" lnSpcReduction="20000"/>
          </a:bodyPr>
          <a:lstStyle/>
          <a:p>
            <a:pPr marL="0" indent="0">
              <a:lnSpc>
                <a:spcPct val="120000"/>
              </a:lnSpc>
              <a:spcBef>
                <a:spcPts val="500"/>
              </a:spcBef>
              <a:buNone/>
            </a:pPr>
            <a:r>
              <a:rPr lang="en-GB" dirty="0"/>
              <a:t>In the social sciences, agent-based models are often used to study opinion formation</a:t>
            </a:r>
          </a:p>
          <a:p>
            <a:pPr>
              <a:lnSpc>
                <a:spcPct val="120000"/>
              </a:lnSpc>
              <a:spcBef>
                <a:spcPts val="500"/>
              </a:spcBef>
            </a:pPr>
            <a:r>
              <a:rPr lang="en-GB" dirty="0"/>
              <a:t>Individuals are represented as autonomous agents embedded in a social network</a:t>
            </a:r>
          </a:p>
          <a:p>
            <a:pPr>
              <a:lnSpc>
                <a:spcPct val="120000"/>
              </a:lnSpc>
              <a:spcBef>
                <a:spcPts val="500"/>
              </a:spcBef>
            </a:pPr>
            <a:r>
              <a:rPr lang="en-GB" dirty="0"/>
              <a:t>Each agent holds an opinion and interacts locally with others in their network</a:t>
            </a:r>
          </a:p>
          <a:p>
            <a:pPr>
              <a:lnSpc>
                <a:spcPct val="120000"/>
              </a:lnSpc>
              <a:spcBef>
                <a:spcPts val="500"/>
              </a:spcBef>
            </a:pPr>
            <a:r>
              <a:rPr lang="en-GB" dirty="0"/>
              <a:t>Agents update their opinions according to simple decision rules, such as conforming to similar or influential others</a:t>
            </a:r>
          </a:p>
          <a:p>
            <a:pPr>
              <a:lnSpc>
                <a:spcPct val="120000"/>
              </a:lnSpc>
              <a:spcBef>
                <a:spcPts val="500"/>
              </a:spcBef>
            </a:pPr>
            <a:r>
              <a:rPr lang="en-GB" dirty="0"/>
              <a:t>From these repeated local interactions, collective outcomes (such as consensus, clustering, or polarization) can emerge over time</a:t>
            </a:r>
          </a:p>
          <a:p>
            <a:pPr>
              <a:lnSpc>
                <a:spcPct val="120000"/>
              </a:lnSpc>
              <a:spcBef>
                <a:spcPts val="500"/>
              </a:spcBef>
            </a:pPr>
            <a:r>
              <a:rPr lang="en-GB" dirty="0"/>
              <a:t>These system-level patterns are not explicitly programmed, but arise naturally from agent interactions</a:t>
            </a:r>
          </a:p>
          <a:p>
            <a:pPr marL="0" indent="0">
              <a:lnSpc>
                <a:spcPct val="120000"/>
              </a:lnSpc>
              <a:spcBef>
                <a:spcPts val="500"/>
              </a:spcBef>
              <a:buNone/>
            </a:pPr>
            <a:r>
              <a:rPr lang="en-GB" dirty="0">
                <a:sym typeface="Wingdings" panose="05000000000000000000" pitchFamily="2" charset="2"/>
              </a:rPr>
              <a:t> </a:t>
            </a:r>
            <a:r>
              <a:rPr lang="en-GB" dirty="0"/>
              <a:t>This makes agent-based modelling particularly valuable for psychologists, as it allows researchers to examine which opinions persist or dominate within social networks, and which learning strategies outperform others over time (e.g., individual learning vs. social learning, or the conditions under which certain strategies spread and become dominant)</a:t>
            </a:r>
          </a:p>
        </p:txBody>
      </p:sp>
    </p:spTree>
    <p:extLst>
      <p:ext uri="{BB962C8B-B14F-4D97-AF65-F5344CB8AC3E}">
        <p14:creationId xmlns:p14="http://schemas.microsoft.com/office/powerpoint/2010/main" val="275203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11C06C-F8C9-B986-E70A-05501602DA36}"/>
              </a:ext>
            </a:extLst>
          </p:cNvPr>
          <p:cNvPicPr>
            <a:picLocks noChangeAspect="1"/>
          </p:cNvPicPr>
          <p:nvPr/>
        </p:nvPicPr>
        <p:blipFill>
          <a:blip r:embed="rId2"/>
          <a:srcRect t="4308"/>
          <a:stretch>
            <a:fillRect/>
          </a:stretch>
        </p:blipFill>
        <p:spPr>
          <a:xfrm>
            <a:off x="3200904" y="354052"/>
            <a:ext cx="6647184" cy="6138824"/>
          </a:xfrm>
          <a:prstGeom prst="rect">
            <a:avLst/>
          </a:prstGeom>
        </p:spPr>
      </p:pic>
      <p:sp>
        <p:nvSpPr>
          <p:cNvPr id="5" name="TextBox 4">
            <a:extLst>
              <a:ext uri="{FF2B5EF4-FFF2-40B4-BE49-F238E27FC236}">
                <a16:creationId xmlns:a16="http://schemas.microsoft.com/office/drawing/2014/main" id="{31CBB1BA-0216-9D84-7704-2E44F239732B}"/>
              </a:ext>
            </a:extLst>
          </p:cNvPr>
          <p:cNvSpPr txBox="1"/>
          <p:nvPr/>
        </p:nvSpPr>
        <p:spPr>
          <a:xfrm>
            <a:off x="6096000" y="6423913"/>
            <a:ext cx="6094476" cy="369332"/>
          </a:xfrm>
          <a:prstGeom prst="rect">
            <a:avLst/>
          </a:prstGeom>
          <a:noFill/>
        </p:spPr>
        <p:txBody>
          <a:bodyPr wrap="square">
            <a:spAutoFit/>
          </a:bodyPr>
          <a:lstStyle/>
          <a:p>
            <a:r>
              <a:rPr lang="en-GB" sz="900" b="0" i="0" dirty="0" err="1">
                <a:solidFill>
                  <a:srgbClr val="222222"/>
                </a:solidFill>
                <a:effectLst/>
                <a:latin typeface="-apple-system"/>
              </a:rPr>
              <a:t>Helfmann</a:t>
            </a:r>
            <a:r>
              <a:rPr lang="en-GB" sz="900" b="0" i="0" dirty="0">
                <a:solidFill>
                  <a:srgbClr val="222222"/>
                </a:solidFill>
                <a:effectLst/>
                <a:latin typeface="-apple-system"/>
              </a:rPr>
              <a:t>, L., </a:t>
            </a:r>
            <a:r>
              <a:rPr lang="en-GB" sz="900" b="0" i="0" dirty="0" err="1">
                <a:solidFill>
                  <a:srgbClr val="222222"/>
                </a:solidFill>
                <a:effectLst/>
                <a:latin typeface="-apple-system"/>
              </a:rPr>
              <a:t>Djurdjevac</a:t>
            </a:r>
            <a:r>
              <a:rPr lang="en-GB" sz="900" b="0" i="0" dirty="0">
                <a:solidFill>
                  <a:srgbClr val="222222"/>
                </a:solidFill>
                <a:effectLst/>
                <a:latin typeface="-apple-system"/>
              </a:rPr>
              <a:t> Conrad, N., Lorenz-Spreen, P., &amp; Schütte, C. (2023). Modelling opinion dynamics under the impact of influencer and media strategies. </a:t>
            </a:r>
            <a:r>
              <a:rPr lang="en-GB" sz="900" b="0" i="1" dirty="0">
                <a:solidFill>
                  <a:srgbClr val="222222"/>
                </a:solidFill>
                <a:effectLst/>
                <a:latin typeface="-apple-system"/>
              </a:rPr>
              <a:t>Scientific Reports, 13</a:t>
            </a:r>
            <a:r>
              <a:rPr lang="en-GB" sz="900" b="0" i="0" dirty="0">
                <a:solidFill>
                  <a:srgbClr val="222222"/>
                </a:solidFill>
                <a:effectLst/>
                <a:latin typeface="-apple-system"/>
              </a:rPr>
              <a:t>(1), 19375.</a:t>
            </a:r>
            <a:endParaRPr lang="en-GB" sz="900" dirty="0"/>
          </a:p>
        </p:txBody>
      </p:sp>
      <p:sp>
        <p:nvSpPr>
          <p:cNvPr id="6" name="Title 1">
            <a:extLst>
              <a:ext uri="{FF2B5EF4-FFF2-40B4-BE49-F238E27FC236}">
                <a16:creationId xmlns:a16="http://schemas.microsoft.com/office/drawing/2014/main" id="{ABCF6CD7-64F0-5565-FDAE-E000A5FFF922}"/>
              </a:ext>
            </a:extLst>
          </p:cNvPr>
          <p:cNvSpPr txBox="1">
            <a:spLocks/>
          </p:cNvSpPr>
          <p:nvPr/>
        </p:nvSpPr>
        <p:spPr>
          <a:xfrm>
            <a:off x="298704"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ABM Example</a:t>
            </a:r>
            <a:endParaRPr lang="en-GB" dirty="0"/>
          </a:p>
        </p:txBody>
      </p:sp>
    </p:spTree>
    <p:extLst>
      <p:ext uri="{BB962C8B-B14F-4D97-AF65-F5344CB8AC3E}">
        <p14:creationId xmlns:p14="http://schemas.microsoft.com/office/powerpoint/2010/main" val="2902599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E1011-1D72-B556-9A7D-1A590DAA93D4}"/>
              </a:ext>
            </a:extLst>
          </p:cNvPr>
          <p:cNvSpPr>
            <a:spLocks noGrp="1"/>
          </p:cNvSpPr>
          <p:nvPr>
            <p:ph type="title"/>
          </p:nvPr>
        </p:nvSpPr>
        <p:spPr>
          <a:xfrm>
            <a:off x="767080" y="0"/>
            <a:ext cx="10515600" cy="1325563"/>
          </a:xfrm>
        </p:spPr>
        <p:txBody>
          <a:bodyPr/>
          <a:lstStyle/>
          <a:p>
            <a:r>
              <a:rPr lang="en-US" dirty="0"/>
              <a:t>Intention</a:t>
            </a:r>
            <a:endParaRPr lang="en-GB" dirty="0"/>
          </a:p>
        </p:txBody>
      </p:sp>
      <p:sp>
        <p:nvSpPr>
          <p:cNvPr id="3" name="Content Placeholder 2">
            <a:extLst>
              <a:ext uri="{FF2B5EF4-FFF2-40B4-BE49-F238E27FC236}">
                <a16:creationId xmlns:a16="http://schemas.microsoft.com/office/drawing/2014/main" id="{87425044-9985-F88A-A5B0-3DB7F5DAA0F3}"/>
              </a:ext>
            </a:extLst>
          </p:cNvPr>
          <p:cNvSpPr>
            <a:spLocks noGrp="1"/>
          </p:cNvSpPr>
          <p:nvPr>
            <p:ph idx="1"/>
          </p:nvPr>
        </p:nvSpPr>
        <p:spPr>
          <a:xfrm>
            <a:off x="838200" y="1198880"/>
            <a:ext cx="10515600" cy="5435600"/>
          </a:xfrm>
        </p:spPr>
        <p:txBody>
          <a:bodyPr>
            <a:normAutofit fontScale="77500" lnSpcReduction="20000"/>
          </a:bodyPr>
          <a:lstStyle/>
          <a:p>
            <a:r>
              <a:rPr lang="en-GB" dirty="0"/>
              <a:t>We conducted a large-scale literature search that identified several thousand papers</a:t>
            </a:r>
          </a:p>
          <a:p>
            <a:r>
              <a:rPr lang="en-GB" dirty="0"/>
              <a:t>To carry out a meaningful bibliometric analysis, we must ensure that these papers accurately capture agent-based modelling applied to human behaviour</a:t>
            </a:r>
          </a:p>
          <a:p>
            <a:r>
              <a:rPr lang="en-GB" dirty="0"/>
              <a:t>This would allow us to map the field as a whole and identify research clusters based on:</a:t>
            </a:r>
          </a:p>
          <a:p>
            <a:pPr lvl="1"/>
            <a:r>
              <a:rPr lang="en-GB" dirty="0"/>
              <a:t>dominant research topics and methods</a:t>
            </a:r>
          </a:p>
          <a:p>
            <a:pPr lvl="1"/>
            <a:r>
              <a:rPr lang="en-GB" dirty="0"/>
              <a:t>key journals</a:t>
            </a:r>
          </a:p>
          <a:p>
            <a:pPr lvl="1"/>
            <a:r>
              <a:rPr lang="en-GB" dirty="0"/>
              <a:t>publication timelines</a:t>
            </a:r>
          </a:p>
          <a:p>
            <a:r>
              <a:rPr lang="en-GB" dirty="0"/>
              <a:t>Examine relationships between clusters and visualise how topics and methods are distributed across the research landscape</a:t>
            </a:r>
          </a:p>
          <a:p>
            <a:r>
              <a:rPr lang="en-GB" dirty="0"/>
              <a:t>Identify isolated or fragmented research areas that may show limited innovative potential</a:t>
            </a:r>
          </a:p>
          <a:p>
            <a:r>
              <a:rPr lang="en-GB" dirty="0"/>
              <a:t>Understand the historical development of the field, including:</a:t>
            </a:r>
          </a:p>
          <a:p>
            <a:pPr lvl="1"/>
            <a:r>
              <a:rPr lang="en-GB" dirty="0"/>
              <a:t>which subfields most commonly apply agent-based models</a:t>
            </a:r>
          </a:p>
          <a:p>
            <a:pPr lvl="1"/>
            <a:r>
              <a:rPr lang="en-GB" dirty="0"/>
              <a:t>which authors have played leading roles</a:t>
            </a:r>
          </a:p>
          <a:p>
            <a:r>
              <a:rPr lang="en-GB" dirty="0"/>
              <a:t>Assess the future relevance of agent-based modelling, identify likely directions for its development and stop unnecessary fragmentation </a:t>
            </a:r>
          </a:p>
        </p:txBody>
      </p:sp>
    </p:spTree>
    <p:extLst>
      <p:ext uri="{BB962C8B-B14F-4D97-AF65-F5344CB8AC3E}">
        <p14:creationId xmlns:p14="http://schemas.microsoft.com/office/powerpoint/2010/main" val="2129764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C3D29-B102-ECEE-717D-314B24AB3C9C}"/>
              </a:ext>
            </a:extLst>
          </p:cNvPr>
          <p:cNvSpPr>
            <a:spLocks noGrp="1"/>
          </p:cNvSpPr>
          <p:nvPr>
            <p:ph type="title"/>
          </p:nvPr>
        </p:nvSpPr>
        <p:spPr>
          <a:xfrm>
            <a:off x="838200" y="182245"/>
            <a:ext cx="10515600" cy="1325563"/>
          </a:xfrm>
        </p:spPr>
        <p:txBody>
          <a:bodyPr/>
          <a:lstStyle/>
          <a:p>
            <a:r>
              <a:rPr lang="en-GB" dirty="0"/>
              <a:t>Why read through so many abstracts?</a:t>
            </a:r>
          </a:p>
        </p:txBody>
      </p:sp>
      <p:sp>
        <p:nvSpPr>
          <p:cNvPr id="3" name="Content Placeholder 2">
            <a:extLst>
              <a:ext uri="{FF2B5EF4-FFF2-40B4-BE49-F238E27FC236}">
                <a16:creationId xmlns:a16="http://schemas.microsoft.com/office/drawing/2014/main" id="{19867634-4497-667F-783B-73F24013C99B}"/>
              </a:ext>
            </a:extLst>
          </p:cNvPr>
          <p:cNvSpPr>
            <a:spLocks noGrp="1"/>
          </p:cNvSpPr>
          <p:nvPr>
            <p:ph idx="1"/>
          </p:nvPr>
        </p:nvSpPr>
        <p:spPr>
          <a:xfrm>
            <a:off x="838200" y="1435608"/>
            <a:ext cx="10515600" cy="4956683"/>
          </a:xfrm>
        </p:spPr>
        <p:txBody>
          <a:bodyPr>
            <a:normAutofit fontScale="85000" lnSpcReduction="20000"/>
          </a:bodyPr>
          <a:lstStyle/>
          <a:p>
            <a:pPr marL="0" indent="0">
              <a:buNone/>
            </a:pPr>
            <a:r>
              <a:rPr lang="en-GB" dirty="0"/>
              <a:t>Some papers:</a:t>
            </a:r>
          </a:p>
          <a:p>
            <a:r>
              <a:rPr lang="en-GB" dirty="0"/>
              <a:t> truly use agent-based models to study human behaviour</a:t>
            </a:r>
          </a:p>
          <a:p>
            <a:r>
              <a:rPr lang="en-GB" dirty="0"/>
              <a:t>only mention agents-based models vaguely, or use ABMs in biology/engineering (without the connection to human </a:t>
            </a:r>
            <a:r>
              <a:rPr lang="en-GB" dirty="0" err="1"/>
              <a:t>behviour</a:t>
            </a:r>
            <a:r>
              <a:rPr lang="en-GB" dirty="0"/>
              <a:t>)</a:t>
            </a:r>
          </a:p>
          <a:p>
            <a:r>
              <a:rPr lang="en-GB" dirty="0"/>
              <a:t>Some also only talk about agentic models or agentic-AI in software engineering which is also not what we are interested</a:t>
            </a:r>
          </a:p>
          <a:p>
            <a:pPr marL="0" indent="0">
              <a:buNone/>
            </a:pPr>
            <a:endParaRPr lang="en-GB" dirty="0"/>
          </a:p>
          <a:p>
            <a:pPr marL="0" indent="0">
              <a:buNone/>
            </a:pPr>
            <a:r>
              <a:rPr lang="en-GB" dirty="0"/>
              <a:t>Reading thousands of abstracts by hand is slow and error-prone</a:t>
            </a:r>
          </a:p>
          <a:p>
            <a:pPr marL="0" indent="0">
              <a:buNone/>
            </a:pPr>
            <a:r>
              <a:rPr lang="en-GB" dirty="0"/>
              <a:t>Solution:</a:t>
            </a:r>
          </a:p>
          <a:p>
            <a:pPr>
              <a:buFont typeface="Wingdings" panose="05000000000000000000" pitchFamily="2" charset="2"/>
              <a:buChar char="à"/>
            </a:pPr>
            <a:r>
              <a:rPr lang="en-GB" dirty="0"/>
              <a:t>Teach a model to learn from our decisions which papers are in-scope and which are out-of-scope and then apply that knowledge to the full dataset (e.g. a sentence transformer converts each </a:t>
            </a:r>
            <a:r>
              <a:rPr lang="en-GB" dirty="0" err="1"/>
              <a:t>labeled</a:t>
            </a:r>
            <a:r>
              <a:rPr lang="en-GB" dirty="0"/>
              <a:t> abstract into an embedding)</a:t>
            </a:r>
          </a:p>
          <a:p>
            <a:pPr>
              <a:buFont typeface="Wingdings" panose="05000000000000000000" pitchFamily="2" charset="2"/>
              <a:buChar char="à"/>
            </a:pPr>
            <a:r>
              <a:rPr lang="en-GB" dirty="0"/>
              <a:t>! But ! For the model to accurately learn which papers are in-scope we need a large enough testing subset which we need to label manually (ca. 1000)</a:t>
            </a:r>
          </a:p>
        </p:txBody>
      </p:sp>
    </p:spTree>
    <p:extLst>
      <p:ext uri="{BB962C8B-B14F-4D97-AF65-F5344CB8AC3E}">
        <p14:creationId xmlns:p14="http://schemas.microsoft.com/office/powerpoint/2010/main" val="539932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043FC-09EF-80D3-5717-A1963B5EAD4C}"/>
              </a:ext>
            </a:extLst>
          </p:cNvPr>
          <p:cNvSpPr>
            <a:spLocks noGrp="1"/>
          </p:cNvSpPr>
          <p:nvPr>
            <p:ph type="title"/>
          </p:nvPr>
        </p:nvSpPr>
        <p:spPr>
          <a:xfrm>
            <a:off x="646176" y="246889"/>
            <a:ext cx="10515600" cy="1325563"/>
          </a:xfrm>
        </p:spPr>
        <p:txBody>
          <a:bodyPr/>
          <a:lstStyle/>
          <a:p>
            <a:r>
              <a:rPr lang="en-GB" dirty="0"/>
              <a:t>What do I do with all the labelled abstracts?</a:t>
            </a:r>
          </a:p>
        </p:txBody>
      </p:sp>
      <p:sp>
        <p:nvSpPr>
          <p:cNvPr id="3" name="Content Placeholder 2">
            <a:extLst>
              <a:ext uri="{FF2B5EF4-FFF2-40B4-BE49-F238E27FC236}">
                <a16:creationId xmlns:a16="http://schemas.microsoft.com/office/drawing/2014/main" id="{52DD76A7-FCA5-2902-8C06-91527D8AFCE4}"/>
              </a:ext>
            </a:extLst>
          </p:cNvPr>
          <p:cNvSpPr>
            <a:spLocks noGrp="1"/>
          </p:cNvSpPr>
          <p:nvPr>
            <p:ph idx="1"/>
          </p:nvPr>
        </p:nvSpPr>
        <p:spPr>
          <a:xfrm>
            <a:off x="838200" y="1600200"/>
            <a:ext cx="10515600" cy="5010911"/>
          </a:xfrm>
        </p:spPr>
        <p:txBody>
          <a:bodyPr>
            <a:normAutofit fontScale="85000" lnSpcReduction="10000"/>
          </a:bodyPr>
          <a:lstStyle/>
          <a:p>
            <a:r>
              <a:rPr lang="en-GB" dirty="0"/>
              <a:t>Train a simple classifier (the “decision rule”)</a:t>
            </a:r>
          </a:p>
          <a:p>
            <a:r>
              <a:rPr lang="en-GB" dirty="0"/>
              <a:t>Then I teach a logistic regression model to answer:</a:t>
            </a:r>
          </a:p>
          <a:p>
            <a:r>
              <a:rPr lang="en-GB" dirty="0"/>
              <a:t>“Given the meaning of this abstract, how likely is it to be out-of-scope?”</a:t>
            </a:r>
          </a:p>
          <a:p>
            <a:r>
              <a:rPr lang="en-GB" dirty="0"/>
              <a:t>To make sure it generalizes well:</a:t>
            </a:r>
          </a:p>
          <a:p>
            <a:pPr lvl="1"/>
            <a:r>
              <a:rPr lang="en-GB" dirty="0"/>
              <a:t>We repeatedly split the data into training and test sets</a:t>
            </a:r>
          </a:p>
          <a:p>
            <a:pPr lvl="1"/>
            <a:r>
              <a:rPr lang="en-GB" dirty="0"/>
              <a:t>We test different levels of model strictness (regularization)</a:t>
            </a:r>
          </a:p>
          <a:p>
            <a:r>
              <a:rPr lang="en-GB" dirty="0"/>
              <a:t>We choose the version that performs best on unseen data which avoids:</a:t>
            </a:r>
          </a:p>
          <a:p>
            <a:pPr lvl="1"/>
            <a:r>
              <a:rPr lang="en-GB" dirty="0"/>
              <a:t>Overfitting (“memorizing” our </a:t>
            </a:r>
            <a:r>
              <a:rPr lang="en-GB" dirty="0" err="1"/>
              <a:t>lables</a:t>
            </a:r>
            <a:r>
              <a:rPr lang="en-GB" dirty="0"/>
              <a:t>)</a:t>
            </a:r>
          </a:p>
          <a:p>
            <a:pPr lvl="1"/>
            <a:r>
              <a:rPr lang="en-GB" dirty="0"/>
              <a:t>Underfitting (being too vague)</a:t>
            </a:r>
          </a:p>
          <a:p>
            <a:r>
              <a:rPr lang="en-GB" dirty="0"/>
              <a:t>Lastly, I train the model on the entire set of labelled data and then apply it to the remaining papers (ca. 8000 papers that are not labelled)</a:t>
            </a:r>
          </a:p>
          <a:p>
            <a:pPr marL="0" indent="0">
              <a:buNone/>
            </a:pPr>
            <a:r>
              <a:rPr lang="en-GB" dirty="0">
                <a:sym typeface="Wingdings" panose="05000000000000000000" pitchFamily="2" charset="2"/>
              </a:rPr>
              <a:t> </a:t>
            </a:r>
            <a:r>
              <a:rPr lang="en-GB" dirty="0"/>
              <a:t>We keep papers that are more likely to be relevant than irrelevant and get a clean dataset that actually represents the field of ABM in the social sciences.</a:t>
            </a:r>
          </a:p>
          <a:p>
            <a:pPr lvl="1"/>
            <a:endParaRPr lang="en-GB" dirty="0"/>
          </a:p>
          <a:p>
            <a:endParaRPr lang="en-GB" dirty="0"/>
          </a:p>
          <a:p>
            <a:endParaRPr lang="en-GB" dirty="0"/>
          </a:p>
        </p:txBody>
      </p:sp>
    </p:spTree>
    <p:extLst>
      <p:ext uri="{BB962C8B-B14F-4D97-AF65-F5344CB8AC3E}">
        <p14:creationId xmlns:p14="http://schemas.microsoft.com/office/powerpoint/2010/main" val="2285384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C4DA786-A685-0C32-015F-16896545676A}"/>
              </a:ext>
            </a:extLst>
          </p:cNvPr>
          <p:cNvPicPr>
            <a:picLocks noChangeAspect="1"/>
          </p:cNvPicPr>
          <p:nvPr/>
        </p:nvPicPr>
        <p:blipFill>
          <a:blip r:embed="rId2"/>
          <a:stretch>
            <a:fillRect/>
          </a:stretch>
        </p:blipFill>
        <p:spPr>
          <a:xfrm>
            <a:off x="162380" y="1257187"/>
            <a:ext cx="8961300" cy="5600813"/>
          </a:xfrm>
          <a:prstGeom prst="rect">
            <a:avLst/>
          </a:prstGeom>
        </p:spPr>
      </p:pic>
      <p:sp>
        <p:nvSpPr>
          <p:cNvPr id="8" name="Oval 7">
            <a:extLst>
              <a:ext uri="{FF2B5EF4-FFF2-40B4-BE49-F238E27FC236}">
                <a16:creationId xmlns:a16="http://schemas.microsoft.com/office/drawing/2014/main" id="{E6B12282-49B4-9E29-78C1-FC32E9053735}"/>
              </a:ext>
            </a:extLst>
          </p:cNvPr>
          <p:cNvSpPr/>
          <p:nvPr/>
        </p:nvSpPr>
        <p:spPr>
          <a:xfrm>
            <a:off x="4958080" y="1259840"/>
            <a:ext cx="690880" cy="85344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B" dirty="0"/>
          </a:p>
        </p:txBody>
      </p:sp>
      <p:sp>
        <p:nvSpPr>
          <p:cNvPr id="9" name="TextBox 8">
            <a:extLst>
              <a:ext uri="{FF2B5EF4-FFF2-40B4-BE49-F238E27FC236}">
                <a16:creationId xmlns:a16="http://schemas.microsoft.com/office/drawing/2014/main" id="{7AACE5DE-80AF-F1B8-6645-9AC8B651E495}"/>
              </a:ext>
            </a:extLst>
          </p:cNvPr>
          <p:cNvSpPr txBox="1"/>
          <p:nvPr/>
        </p:nvSpPr>
        <p:spPr>
          <a:xfrm>
            <a:off x="5963920" y="574714"/>
            <a:ext cx="5110480" cy="2308324"/>
          </a:xfrm>
          <a:prstGeom prst="rect">
            <a:avLst/>
          </a:prstGeom>
          <a:solidFill>
            <a:schemeClr val="bg1"/>
          </a:solidFill>
          <a:ln>
            <a:solidFill>
              <a:schemeClr val="tx1"/>
            </a:solidFill>
          </a:ln>
          <a:effectLst>
            <a:glow rad="177800">
              <a:schemeClr val="accent1">
                <a:alpha val="33000"/>
              </a:schemeClr>
            </a:glow>
            <a:outerShdw blurRad="50800" dir="4020000" sx="1000" sy="1000" algn="ctr" rotWithShape="0">
              <a:srgbClr val="000000">
                <a:alpha val="71000"/>
              </a:srgbClr>
            </a:outerShdw>
            <a:reflection stA="99000" endPos="0" dist="50800" dir="5400000" sy="-100000" algn="bl" rotWithShape="0"/>
            <a:softEdge rad="0"/>
          </a:effectLst>
          <a:scene3d>
            <a:camera prst="orthographicFront"/>
            <a:lightRig rig="chilly" dir="t"/>
          </a:scene3d>
        </p:spPr>
        <p:txBody>
          <a:bodyPr wrap="square" rtlCol="0">
            <a:spAutoFit/>
          </a:bodyPr>
          <a:lstStyle/>
          <a:p>
            <a:r>
              <a:rPr lang="en-GB" dirty="0"/>
              <a:t>After rating 300 abstracts manually (in-scope or out-of-scope, my logistic regression achieved an accuracy of ca 74 % after applying to the entire data set </a:t>
            </a:r>
          </a:p>
          <a:p>
            <a:r>
              <a:rPr lang="en-GB" dirty="0"/>
              <a:t>GOAL: Can we get to ca 95% (while not overfitting) ???</a:t>
            </a:r>
          </a:p>
          <a:p>
            <a:r>
              <a:rPr lang="en-GB" dirty="0"/>
              <a:t>METHOD:</a:t>
            </a:r>
          </a:p>
          <a:p>
            <a:r>
              <a:rPr lang="en-GB" dirty="0"/>
              <a:t>Let’s label 700 more abstracts!</a:t>
            </a:r>
          </a:p>
        </p:txBody>
      </p:sp>
      <p:sp>
        <p:nvSpPr>
          <p:cNvPr id="2" name="Title 1">
            <a:extLst>
              <a:ext uri="{FF2B5EF4-FFF2-40B4-BE49-F238E27FC236}">
                <a16:creationId xmlns:a16="http://schemas.microsoft.com/office/drawing/2014/main" id="{63FD4CDB-EC5B-A68E-3169-CAF39B85B242}"/>
              </a:ext>
            </a:extLst>
          </p:cNvPr>
          <p:cNvSpPr txBox="1">
            <a:spLocks/>
          </p:cNvSpPr>
          <p:nvPr/>
        </p:nvSpPr>
        <p:spPr>
          <a:xfrm>
            <a:off x="391160" y="253169"/>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Why I need your help …</a:t>
            </a:r>
          </a:p>
        </p:txBody>
      </p:sp>
    </p:spTree>
    <p:extLst>
      <p:ext uri="{BB962C8B-B14F-4D97-AF65-F5344CB8AC3E}">
        <p14:creationId xmlns:p14="http://schemas.microsoft.com/office/powerpoint/2010/main" val="1752874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9431-ADC9-95AA-4DB4-61D57571A5F0}"/>
              </a:ext>
            </a:extLst>
          </p:cNvPr>
          <p:cNvSpPr>
            <a:spLocks noGrp="1"/>
          </p:cNvSpPr>
          <p:nvPr>
            <p:ph type="title"/>
          </p:nvPr>
        </p:nvSpPr>
        <p:spPr>
          <a:xfrm>
            <a:off x="765048" y="18255"/>
            <a:ext cx="10515600" cy="1325563"/>
          </a:xfrm>
        </p:spPr>
        <p:txBody>
          <a:bodyPr/>
          <a:lstStyle/>
          <a:p>
            <a:r>
              <a:rPr lang="en-GB" dirty="0"/>
              <a:t>How the abstract rating process works</a:t>
            </a:r>
          </a:p>
        </p:txBody>
      </p:sp>
      <p:pic>
        <p:nvPicPr>
          <p:cNvPr id="5" name="Content Placeholder 4">
            <a:extLst>
              <a:ext uri="{FF2B5EF4-FFF2-40B4-BE49-F238E27FC236}">
                <a16:creationId xmlns:a16="http://schemas.microsoft.com/office/drawing/2014/main" id="{17DA66E2-8474-D157-BB9C-9B0415702DCA}"/>
              </a:ext>
            </a:extLst>
          </p:cNvPr>
          <p:cNvPicPr>
            <a:picLocks noGrp="1" noChangeAspect="1"/>
          </p:cNvPicPr>
          <p:nvPr>
            <p:ph idx="1"/>
          </p:nvPr>
        </p:nvPicPr>
        <p:blipFill>
          <a:blip r:embed="rId2"/>
          <a:stretch>
            <a:fillRect/>
          </a:stretch>
        </p:blipFill>
        <p:spPr>
          <a:xfrm>
            <a:off x="2595185" y="1179576"/>
            <a:ext cx="8460351" cy="5439857"/>
          </a:xfrm>
          <a:prstGeom prst="rect">
            <a:avLst/>
          </a:prstGeom>
        </p:spPr>
      </p:pic>
      <p:sp>
        <p:nvSpPr>
          <p:cNvPr id="8" name="Oval 7">
            <a:extLst>
              <a:ext uri="{FF2B5EF4-FFF2-40B4-BE49-F238E27FC236}">
                <a16:creationId xmlns:a16="http://schemas.microsoft.com/office/drawing/2014/main" id="{094D33F6-E3C7-380B-2AAD-36C7419F5F9D}"/>
              </a:ext>
            </a:extLst>
          </p:cNvPr>
          <p:cNvSpPr/>
          <p:nvPr/>
        </p:nvSpPr>
        <p:spPr>
          <a:xfrm>
            <a:off x="3602809" y="1414961"/>
            <a:ext cx="618127" cy="39751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B" dirty="0"/>
          </a:p>
        </p:txBody>
      </p:sp>
      <p:sp>
        <p:nvSpPr>
          <p:cNvPr id="9" name="Oval 8">
            <a:extLst>
              <a:ext uri="{FF2B5EF4-FFF2-40B4-BE49-F238E27FC236}">
                <a16:creationId xmlns:a16="http://schemas.microsoft.com/office/drawing/2014/main" id="{89574EE9-0B08-8364-188F-245F589715DF}"/>
              </a:ext>
            </a:extLst>
          </p:cNvPr>
          <p:cNvSpPr/>
          <p:nvPr/>
        </p:nvSpPr>
        <p:spPr>
          <a:xfrm>
            <a:off x="3673566" y="3584115"/>
            <a:ext cx="618127" cy="39751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B" dirty="0"/>
          </a:p>
        </p:txBody>
      </p:sp>
      <p:cxnSp>
        <p:nvCxnSpPr>
          <p:cNvPr id="11" name="Straight Arrow Connector 10">
            <a:extLst>
              <a:ext uri="{FF2B5EF4-FFF2-40B4-BE49-F238E27FC236}">
                <a16:creationId xmlns:a16="http://schemas.microsoft.com/office/drawing/2014/main" id="{AB493291-9BEA-C9AE-612F-E7BB577AA08B}"/>
              </a:ext>
            </a:extLst>
          </p:cNvPr>
          <p:cNvCxnSpPr>
            <a:cxnSpLocks/>
            <a:stCxn id="8" idx="3"/>
          </p:cNvCxnSpPr>
          <p:nvPr/>
        </p:nvCxnSpPr>
        <p:spPr>
          <a:xfrm flipH="1">
            <a:off x="1771650" y="1754257"/>
            <a:ext cx="1921682" cy="32811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82F2624D-E0B5-8CC0-13B5-0E2244860BBD}"/>
              </a:ext>
            </a:extLst>
          </p:cNvPr>
          <p:cNvCxnSpPr>
            <a:cxnSpLocks/>
          </p:cNvCxnSpPr>
          <p:nvPr/>
        </p:nvCxnSpPr>
        <p:spPr>
          <a:xfrm flipH="1" flipV="1">
            <a:off x="1977059" y="3045125"/>
            <a:ext cx="1696507" cy="76958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9729BCE4-6987-C788-BF6F-BBBF52745501}"/>
              </a:ext>
            </a:extLst>
          </p:cNvPr>
          <p:cNvSpPr txBox="1"/>
          <p:nvPr/>
        </p:nvSpPr>
        <p:spPr>
          <a:xfrm>
            <a:off x="227757" y="1719467"/>
            <a:ext cx="1749302" cy="4708981"/>
          </a:xfrm>
          <a:prstGeom prst="rect">
            <a:avLst/>
          </a:prstGeom>
          <a:noFill/>
        </p:spPr>
        <p:txBody>
          <a:bodyPr wrap="square" rtlCol="0">
            <a:spAutoFit/>
          </a:bodyPr>
          <a:lstStyle/>
          <a:p>
            <a:r>
              <a:rPr lang="en-GB" sz="1200" b="1" dirty="0"/>
              <a:t>Out of scope = 0 </a:t>
            </a:r>
            <a:r>
              <a:rPr lang="en-GB" sz="1200" dirty="0"/>
              <a:t>means that this is a paper we want to keep!</a:t>
            </a:r>
          </a:p>
          <a:p>
            <a:endParaRPr lang="en-GB" sz="1200" dirty="0"/>
          </a:p>
          <a:p>
            <a:r>
              <a:rPr lang="en-GB" sz="1200" b="1" dirty="0"/>
              <a:t>Out of scope = 1</a:t>
            </a:r>
            <a:r>
              <a:rPr lang="en-GB" sz="1200" dirty="0"/>
              <a:t> means that this paper does not fall within our category. Why? Because when you read through the abstract you can see that it is purely about simulating virtual power-plants and there is no human involvement or decision making – this is often the case in multi-agent-based modelling papers: if you are unsure about the rating you want to give, then I’d advise to look up the paper associated with the </a:t>
            </a:r>
            <a:r>
              <a:rPr lang="en-GB" sz="1200" dirty="0" err="1"/>
              <a:t>abstact</a:t>
            </a:r>
            <a:r>
              <a:rPr lang="en-GB" sz="1200" dirty="0"/>
              <a:t> online and check it out.</a:t>
            </a:r>
          </a:p>
        </p:txBody>
      </p:sp>
    </p:spTree>
    <p:extLst>
      <p:ext uri="{BB962C8B-B14F-4D97-AF65-F5344CB8AC3E}">
        <p14:creationId xmlns:p14="http://schemas.microsoft.com/office/powerpoint/2010/main" val="600698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7FC05-0905-EA29-DA6C-43FD3B9E47E2}"/>
              </a:ext>
            </a:extLst>
          </p:cNvPr>
          <p:cNvSpPr>
            <a:spLocks noGrp="1"/>
          </p:cNvSpPr>
          <p:nvPr>
            <p:ph type="title"/>
          </p:nvPr>
        </p:nvSpPr>
        <p:spPr/>
        <p:txBody>
          <a:bodyPr/>
          <a:lstStyle/>
          <a:p>
            <a:r>
              <a:rPr lang="en-GB" dirty="0"/>
              <a:t>What we are not looking for</a:t>
            </a:r>
          </a:p>
        </p:txBody>
      </p:sp>
      <p:sp>
        <p:nvSpPr>
          <p:cNvPr id="3" name="Content Placeholder 2">
            <a:extLst>
              <a:ext uri="{FF2B5EF4-FFF2-40B4-BE49-F238E27FC236}">
                <a16:creationId xmlns:a16="http://schemas.microsoft.com/office/drawing/2014/main" id="{41F99244-BBE2-6EF3-3E2A-5AACE41FB3E3}"/>
              </a:ext>
            </a:extLst>
          </p:cNvPr>
          <p:cNvSpPr>
            <a:spLocks noGrp="1"/>
          </p:cNvSpPr>
          <p:nvPr>
            <p:ph idx="1"/>
          </p:nvPr>
        </p:nvSpPr>
        <p:spPr>
          <a:xfrm>
            <a:off x="838200" y="1846053"/>
            <a:ext cx="10515600" cy="4822166"/>
          </a:xfrm>
        </p:spPr>
        <p:txBody>
          <a:bodyPr>
            <a:normAutofit fontScale="77500" lnSpcReduction="20000"/>
          </a:bodyPr>
          <a:lstStyle/>
          <a:p>
            <a:r>
              <a:rPr lang="en-GB" sz="3000" dirty="0"/>
              <a:t>We don’t want papers on:</a:t>
            </a:r>
          </a:p>
          <a:p>
            <a:pPr lvl="1"/>
            <a:r>
              <a:rPr lang="en-GB" sz="2600" dirty="0"/>
              <a:t>Animals</a:t>
            </a:r>
          </a:p>
          <a:p>
            <a:pPr lvl="1"/>
            <a:r>
              <a:rPr lang="en-GB" sz="2600" dirty="0"/>
              <a:t>Logistics (e.g. no human involvement just engineering workflow etc.)</a:t>
            </a:r>
          </a:p>
          <a:p>
            <a:pPr lvl="1"/>
            <a:r>
              <a:rPr lang="en-GB" sz="2600" dirty="0"/>
              <a:t>Power gird simulations or purely manufacturing processes</a:t>
            </a:r>
          </a:p>
          <a:p>
            <a:pPr lvl="1"/>
            <a:r>
              <a:rPr lang="en-GB" sz="2600" dirty="0"/>
              <a:t>Simulations other than agent-based models (individual-based models or other names for ABMs are okay, but the paper should be looked up to double-check; e.g. if it is just on deep learning, or neural nets or so then that’s out of context) </a:t>
            </a:r>
          </a:p>
          <a:p>
            <a:pPr lvl="1"/>
            <a:r>
              <a:rPr lang="en-GB" sz="2600" dirty="0"/>
              <a:t>If it involves AI or agentic models, make sure to check whether the focus is still on human decision making/ simulating decision making through the ABM method (sometimes these papers are purely on software agents and they don’t model psychology unless explicitly instructed to do so)</a:t>
            </a:r>
            <a:endParaRPr lang="en-GB" sz="3000" dirty="0"/>
          </a:p>
          <a:p>
            <a:pPr marL="0" indent="0">
              <a:buNone/>
            </a:pPr>
            <a:r>
              <a:rPr lang="en-GB" sz="3000" dirty="0"/>
              <a:t>You will find lots of papers in the ecological domain, here agent-based models are often used to model human decision making about harvesting or water-management, it can  be difficult to understand that it involves human decision-making but most of the time these papers are really relevant and about human policy and decision making around resource management) </a:t>
            </a:r>
          </a:p>
          <a:p>
            <a:pPr marL="0" indent="0">
              <a:buNone/>
            </a:pPr>
            <a:r>
              <a:rPr lang="en-GB" sz="3000">
                <a:sym typeface="Wingdings" panose="05000000000000000000" pitchFamily="2" charset="2"/>
              </a:rPr>
              <a:t> </a:t>
            </a:r>
            <a:r>
              <a:rPr lang="en-GB" sz="3000"/>
              <a:t>Importantly</a:t>
            </a:r>
            <a:r>
              <a:rPr lang="en-GB" sz="3000" dirty="0"/>
              <a:t>, a paper is in-scope if it involves a form of agent-based simulation on any kind of human decision making</a:t>
            </a:r>
            <a:endParaRPr lang="en-GB" dirty="0"/>
          </a:p>
        </p:txBody>
      </p:sp>
    </p:spTree>
    <p:extLst>
      <p:ext uri="{BB962C8B-B14F-4D97-AF65-F5344CB8AC3E}">
        <p14:creationId xmlns:p14="http://schemas.microsoft.com/office/powerpoint/2010/main" val="15643494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340</TotalTime>
  <Words>1149</Words>
  <Application>Microsoft Office PowerPoint</Application>
  <PresentationFormat>Widescreen</PresentationFormat>
  <Paragraphs>74</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-apple-system</vt:lpstr>
      <vt:lpstr>Aptos</vt:lpstr>
      <vt:lpstr>Aptos Display</vt:lpstr>
      <vt:lpstr>Arial</vt:lpstr>
      <vt:lpstr>Wingdings</vt:lpstr>
      <vt:lpstr>Office Theme</vt:lpstr>
      <vt:lpstr>Agent-based Modeling in the Social Sciences</vt:lpstr>
      <vt:lpstr>Mapping the Field of Agent-based Models (ABM) in the Social Sciences </vt:lpstr>
      <vt:lpstr>ABM- Example</vt:lpstr>
      <vt:lpstr>PowerPoint Presentation</vt:lpstr>
      <vt:lpstr>Intention</vt:lpstr>
      <vt:lpstr>Why read through so many abstracts?</vt:lpstr>
      <vt:lpstr>What do I do with all the labelled abstracts?</vt:lpstr>
      <vt:lpstr>PowerPoint Presentation</vt:lpstr>
      <vt:lpstr>How the abstract rating process works</vt:lpstr>
      <vt:lpstr>What we are not looking for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WENDLER, VERONIKA (UG)</dc:creator>
  <cp:lastModifiedBy>Veronika Wendler (PhD Psychology Lab OS UKRI FT)</cp:lastModifiedBy>
  <cp:revision>12</cp:revision>
  <dcterms:created xsi:type="dcterms:W3CDTF">2026-01-21T21:42:43Z</dcterms:created>
  <dcterms:modified xsi:type="dcterms:W3CDTF">2026-01-30T13:51:06Z</dcterms:modified>
</cp:coreProperties>
</file>